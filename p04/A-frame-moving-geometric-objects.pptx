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97" r:id="rId2"/>
    <p:sldId id="259" r:id="rId3"/>
    <p:sldId id="277" r:id="rId4"/>
    <p:sldId id="290" r:id="rId5"/>
    <p:sldId id="272" r:id="rId6"/>
    <p:sldId id="300" r:id="rId7"/>
    <p:sldId id="291" r:id="rId8"/>
    <p:sldId id="292" r:id="rId9"/>
    <p:sldId id="285" r:id="rId10"/>
    <p:sldId id="298" r:id="rId11"/>
    <p:sldId id="286" r:id="rId12"/>
    <p:sldId id="295" r:id="rId13"/>
    <p:sldId id="301" r:id="rId14"/>
    <p:sldId id="302" r:id="rId15"/>
    <p:sldId id="288" r:id="rId16"/>
    <p:sldId id="287" r:id="rId17"/>
    <p:sldId id="299" r:id="rId18"/>
    <p:sldId id="284" r:id="rId19"/>
    <p:sldId id="293" r:id="rId20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1883" autoAdjust="0"/>
  </p:normalViewPr>
  <p:slideViewPr>
    <p:cSldViewPr snapToGrid="0">
      <p:cViewPr varScale="1">
        <p:scale>
          <a:sx n="88" d="100"/>
          <a:sy n="88" d="100"/>
        </p:scale>
        <p:origin x="9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38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+mn-lt"/>
                <a:ea typeface="Calibri Light"/>
                <a:cs typeface="Calibri Light"/>
              </a:rPr>
              <a:t>Mo</a:t>
            </a:r>
            <a:r>
              <a:rPr lang="en-US" b="1" dirty="0">
                <a:latin typeface="Calibri"/>
                <a:ea typeface="Calibri"/>
                <a:cs typeface="Calibri"/>
              </a:rPr>
              <a:t>ving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96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Translation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Spinning 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Rotation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Linear movement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A-box - </a:t>
            </a:r>
            <a:r>
              <a:rPr lang="en-US" sz="2800" b="1" dirty="0">
                <a:solidFill>
                  <a:srgbClr val="0070C0"/>
                </a:solidFill>
              </a:rPr>
              <a:t>https://aframe.io/docs/1.7.0/components/animation.html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&lt;a-box position=“</a:t>
            </a:r>
            <a:r>
              <a:rPr lang="en-US" dirty="0">
                <a:solidFill>
                  <a:srgbClr val="FF0000"/>
                </a:solidFill>
              </a:rPr>
              <a:t>0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b="1" dirty="0">
                <a:solidFill>
                  <a:srgbClr val="0070C0"/>
                </a:solidFill>
              </a:rPr>
              <a:t>” color=“red"&gt;&lt;/a-box&gt;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-1.5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A-frame Inspector: </a:t>
            </a:r>
            <a:r>
              <a:rPr lang="en-US" dirty="0">
                <a:solidFill>
                  <a:schemeClr val="accent1"/>
                </a:solidFill>
              </a:rPr>
              <a:t>&lt;CTRL&gt;-&lt;ALT&gt;-I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19728F-8CC2-6847-E505-61BE2B7CBBB8}"/>
              </a:ext>
            </a:extLst>
          </p:cNvPr>
          <p:cNvSpPr txBox="1"/>
          <p:nvPr/>
        </p:nvSpPr>
        <p:spPr>
          <a:xfrm>
            <a:off x="9473877" y="2592728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-2.0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543DB-099F-DC24-32F0-481E9C8DFB29}"/>
              </a:ext>
            </a:extLst>
          </p:cNvPr>
          <p:cNvSpPr txBox="1"/>
          <p:nvPr/>
        </p:nvSpPr>
        <p:spPr>
          <a:xfrm>
            <a:off x="5866365" y="3669786"/>
            <a:ext cx="752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-1.5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8EA5E-6154-63D8-2F93-73A6D2C1C27B}"/>
              </a:ext>
            </a:extLst>
          </p:cNvPr>
          <p:cNvSpPr txBox="1"/>
          <p:nvPr/>
        </p:nvSpPr>
        <p:spPr>
          <a:xfrm>
            <a:off x="7666051" y="294723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A2B021-2F1A-B5C9-D28F-42D5B9013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4960" y="2947235"/>
            <a:ext cx="2839779" cy="2269229"/>
          </a:xfrm>
          <a:prstGeom prst="rect">
            <a:avLst/>
          </a:prstGeom>
        </p:spPr>
      </p:pic>
      <p:pic>
        <p:nvPicPr>
          <p:cNvPr id="17" name="Graphic 16" descr="Cube outline">
            <a:extLst>
              <a:ext uri="{FF2B5EF4-FFF2-40B4-BE49-F238E27FC236}">
                <a16:creationId xmlns:a16="http://schemas.microsoft.com/office/drawing/2014/main" id="{1CB6B35F-B60A-1551-960C-E7D2119EA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1294" y="26103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96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static rotation </a:t>
            </a:r>
            <a:r>
              <a:rPr lang="en-US" dirty="0">
                <a:solidFill>
                  <a:srgbClr val="0070C0"/>
                </a:solidFill>
              </a:rPr>
              <a:t>– a-Platonic-solids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 -4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-2.5 </a:t>
            </a:r>
            <a:r>
              <a:rPr lang="en-US" dirty="0"/>
              <a:t>" 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dirty="0">
                <a:solidFill>
                  <a:schemeClr val="accent1"/>
                </a:solidFill>
              </a:rPr>
              <a:t>rotation=“45 45 45" 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26DD84-B1FF-74B6-2D4E-6E80577853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865120">
            <a:off x="6079142" y="19580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E153-79A6-2630-5E1A-52589041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61BAF4-4294-B80B-28E8-DC06604F9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595" y="1937242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77DEC5-33D6-D421-7DA0-F2E1563B2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076" y="3110144"/>
            <a:ext cx="7830669" cy="179223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C98B34-8664-4BBE-00BB-077F189828D3}"/>
              </a:ext>
            </a:extLst>
          </p:cNvPr>
          <p:cNvCxnSpPr/>
          <p:nvPr/>
        </p:nvCxnSpPr>
        <p:spPr>
          <a:xfrm flipH="1">
            <a:off x="8951794" y="2881510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858F28-6156-5673-705B-6A58700A313B}"/>
              </a:ext>
            </a:extLst>
          </p:cNvPr>
          <p:cNvCxnSpPr>
            <a:cxnSpLocks/>
          </p:cNvCxnSpPr>
          <p:nvPr/>
        </p:nvCxnSpPr>
        <p:spPr>
          <a:xfrm flipV="1">
            <a:off x="6461879" y="4006259"/>
            <a:ext cx="283335" cy="91306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697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EA80B-2133-AB36-E153-49B07D07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Platonic solids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49A31-410D-04ED-109A-5AC7D8EF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&lt;a-box position="-4.0 1 -2.5" color="green"&gt;&lt;/a-box&gt; &lt;!-- </a:t>
            </a:r>
            <a:r>
              <a:rPr lang="en-US" sz="2400" dirty="0">
                <a:solidFill>
                  <a:srgbClr val="0070C0"/>
                </a:solidFill>
              </a:rPr>
              <a:t>cube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--&gt;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position="-2.0 1 -2.5"  geometry="primitive: </a:t>
            </a:r>
            <a:r>
              <a:rPr lang="en-US" sz="2400" dirty="0">
                <a:solidFill>
                  <a:srgbClr val="0070C0"/>
                </a:solidFill>
              </a:rPr>
              <a:t>tetrahedron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position="0 1 -2.5" geometry="primitive: </a:t>
            </a:r>
            <a:r>
              <a:rPr lang="en-US" sz="2400" dirty="0">
                <a:solidFill>
                  <a:srgbClr val="0070C0"/>
                </a:solidFill>
              </a:rPr>
              <a:t>dodecahedron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position="2.0 1 -2.5" geometry="primitive: </a:t>
            </a:r>
            <a:r>
              <a:rPr lang="en-US" sz="2400" dirty="0">
                <a:solidFill>
                  <a:srgbClr val="0070C0"/>
                </a:solidFill>
              </a:rPr>
              <a:t>octahedron</a:t>
            </a:r>
            <a:r>
              <a:rPr lang="en-US" sz="2400" dirty="0"/>
              <a:t>; radius: 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&lt;a-entity position="4.0 1 -2.5" geometry="primitive: </a:t>
            </a:r>
            <a:r>
              <a:rPr lang="en-US" sz="2400" dirty="0">
                <a:solidFill>
                  <a:srgbClr val="0070C0"/>
                </a:solidFill>
              </a:rPr>
              <a:t>icosahedron</a:t>
            </a:r>
            <a:r>
              <a:rPr lang="en-US" sz="2400" dirty="0"/>
              <a:t>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/>
              <a:t>&lt;/a-entity&gt;</a:t>
            </a:r>
          </a:p>
        </p:txBody>
      </p:sp>
    </p:spTree>
    <p:extLst>
      <p:ext uri="{BB962C8B-B14F-4D97-AF65-F5344CB8AC3E}">
        <p14:creationId xmlns:p14="http://schemas.microsoft.com/office/powerpoint/2010/main" val="405006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B449-7214-6E8B-9A8B-A55959B6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views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2880B-1AAE-B245-7A49-96063FC1E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876" y="3087377"/>
            <a:ext cx="6982998" cy="2850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812E9B-EB4C-450D-241C-CC9BAEB69820}"/>
              </a:ext>
            </a:extLst>
          </p:cNvPr>
          <p:cNvSpPr txBox="1"/>
          <p:nvPr/>
        </p:nvSpPr>
        <p:spPr>
          <a:xfrm>
            <a:off x="5372100" y="1360714"/>
            <a:ext cx="2845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A-frame Inspector: Top 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911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&lt;a-box  id="PGB box" position="0 2 -2.5" </a:t>
            </a:r>
            <a:r>
              <a:rPr lang="en-US" dirty="0">
                <a:solidFill>
                  <a:schemeClr val="accent1"/>
                </a:solidFill>
              </a:rPr>
              <a:t>rotation</a:t>
            </a:r>
            <a:r>
              <a:rPr lang="en-US" dirty="0"/>
              <a:t>="45 45 45" 		color="green"</a:t>
            </a:r>
          </a:p>
          <a:p>
            <a:pPr marL="0" indent="0">
              <a:buNone/>
            </a:pPr>
            <a:r>
              <a:rPr lang="en-US" dirty="0"/>
              <a:t>	animation=   </a:t>
            </a:r>
            <a:r>
              <a:rPr lang="en-US" dirty="0">
                <a:solidFill>
                  <a:srgbClr val="0070C0"/>
                </a:solidFill>
              </a:rPr>
              <a:t>“property: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0 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  </a:t>
            </a:r>
            <a:r>
              <a:rPr lang="en-US" dirty="0">
                <a:solidFill>
                  <a:srgbClr val="FF0000"/>
                </a:solidFill>
              </a:rPr>
              <a:t>rotates around the y-axis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true;”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4149205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6D41-77F3-19FD-5F6B-9B84E1EA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49B6-79FC-ECA1-88E5-AFD5F5EF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</a:t>
            </a:r>
            <a:r>
              <a:rPr lang="en-US" dirty="0">
                <a:solidFill>
                  <a:srgbClr val="FF0000"/>
                </a:solidFill>
              </a:rPr>
              <a:t>dynamic rotation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F49E-D3AB-5AC3-734B-215D98920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11" y="18699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animation=   </a:t>
            </a:r>
            <a:r>
              <a:rPr lang="en-US" dirty="0">
                <a:solidFill>
                  <a:srgbClr val="0070C0"/>
                </a:solidFill>
              </a:rPr>
              <a:t>“property: rotation;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dur: 10000;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from: 0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70C0"/>
                </a:solidFill>
              </a:rPr>
              <a:t>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to: 0 </a:t>
            </a:r>
            <a:r>
              <a:rPr lang="en-US" dirty="0">
                <a:solidFill>
                  <a:srgbClr val="FF0000"/>
                </a:solidFill>
              </a:rPr>
              <a:t>360</a:t>
            </a:r>
            <a:r>
              <a:rPr lang="en-US" dirty="0">
                <a:solidFill>
                  <a:srgbClr val="0070C0"/>
                </a:solidFill>
              </a:rPr>
              <a:t> 0;  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rotates </a:t>
            </a:r>
            <a:r>
              <a:rPr lang="en-US" b="1" dirty="0">
                <a:solidFill>
                  <a:srgbClr val="FF0000"/>
                </a:solidFill>
              </a:rPr>
              <a:t>around</a:t>
            </a:r>
            <a:r>
              <a:rPr lang="en-US" dirty="0">
                <a:solidFill>
                  <a:srgbClr val="FF0000"/>
                </a:solidFill>
              </a:rPr>
              <a:t> the y-axis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2F3220-EC73-5D30-6C54-E224A5512EEC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97EC39-712F-F014-D18B-C3493C4B1278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2305FA-F815-8162-FEFB-8FFEE9FBC0E0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0DFBA5-ED3D-2BA8-F59D-3DD4F8CB1F84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51EA5C-2301-6FA1-2817-3A09A5B78F9F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2A8651-D3DA-08C4-4EB3-CDF94A8B02B9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BA2B6C-9DFE-32F4-9447-B47CF3D557EA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Cube outline">
            <a:extLst>
              <a:ext uri="{FF2B5EF4-FFF2-40B4-BE49-F238E27FC236}">
                <a16:creationId xmlns:a16="http://schemas.microsoft.com/office/drawing/2014/main" id="{04FBF8B1-0A6F-58E2-9CCF-46E086C179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6576" y="2054871"/>
            <a:ext cx="914400" cy="914400"/>
          </a:xfrm>
          <a:prstGeom prst="rect">
            <a:avLst/>
          </a:prstGeom>
        </p:spPr>
      </p:pic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8F74151E-8DB8-4CF2-7706-784B0AF284F4}"/>
              </a:ext>
            </a:extLst>
          </p:cNvPr>
          <p:cNvSpPr/>
          <p:nvPr/>
        </p:nvSpPr>
        <p:spPr>
          <a:xfrm>
            <a:off x="6736412" y="2972872"/>
            <a:ext cx="742682" cy="456127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88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83C0E-F1D1-D452-BFA8-E610F142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animation – </a:t>
            </a:r>
            <a:r>
              <a:rPr lang="en-US" dirty="0">
                <a:solidFill>
                  <a:srgbClr val="FF0000"/>
                </a:solidFill>
              </a:rPr>
              <a:t>rotation in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64423-B4D1-72CD-ECD8-65DCC4821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&lt;a-box  id="PGB box" position="0 2 -2.5"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/>
              <a:t>="45 45 45" 		color="green"</a:t>
            </a:r>
          </a:p>
          <a:p>
            <a:pPr marL="0" indent="0">
              <a:buNone/>
            </a:pPr>
            <a:r>
              <a:rPr lang="en-US" dirty="0"/>
              <a:t>	animation=   </a:t>
            </a:r>
            <a:r>
              <a:rPr lang="en-US" dirty="0">
                <a:solidFill>
                  <a:srgbClr val="0070C0"/>
                </a:solidFill>
              </a:rPr>
              <a:t>'property: </a:t>
            </a:r>
            <a:r>
              <a:rPr lang="en-US" u="sng" dirty="0">
                <a:solidFill>
                  <a:schemeClr val="accent6"/>
                </a:solidFill>
              </a:rPr>
              <a:t>rotation</a:t>
            </a:r>
            <a:r>
              <a:rPr lang="en-US" dirty="0">
                <a:solidFill>
                  <a:srgbClr val="0070C0"/>
                </a:solidFill>
              </a:rPr>
              <a:t>;         </a:t>
            </a:r>
            <a:r>
              <a:rPr lang="en-US" dirty="0">
                <a:solidFill>
                  <a:srgbClr val="FF0000"/>
                </a:solidFill>
              </a:rPr>
              <a:t>position, color,…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dur: 10000;    </a:t>
            </a:r>
            <a:r>
              <a:rPr lang="en-US" dirty="0">
                <a:solidFill>
                  <a:srgbClr val="FF0000"/>
                </a:solidFill>
              </a:rPr>
              <a:t>entire transform in 10,000 milliseconds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from: 0 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to: 0 360 0;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</a:t>
            </a:r>
            <a:r>
              <a:rPr lang="en-US" dirty="0" err="1">
                <a:solidFill>
                  <a:srgbClr val="0070C0"/>
                </a:solidFill>
              </a:rPr>
              <a:t>dir</a:t>
            </a:r>
            <a:r>
              <a:rPr lang="en-US" dirty="0">
                <a:solidFill>
                  <a:srgbClr val="0070C0"/>
                </a:solidFill>
              </a:rPr>
              <a:t>: normal;  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easing: linear;   </a:t>
            </a:r>
            <a:r>
              <a:rPr lang="en-US" dirty="0">
                <a:solidFill>
                  <a:srgbClr val="FF0000"/>
                </a:solidFill>
              </a:rPr>
              <a:t>between runs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			loop: true;'</a:t>
            </a:r>
          </a:p>
          <a:p>
            <a:pPr marL="0" indent="0">
              <a:buNone/>
            </a:pPr>
            <a:r>
              <a:rPr lang="en-US" dirty="0"/>
              <a:t>	  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3890012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1B35-771B-8ADD-F244-DFCE655E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orbits?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56BC-447B-286E-FB03-A06C20F85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a-sphere-mars-spin-narrow.html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a-sphere-mars-spin-wide.html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57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F0A1-01D0-AEB2-54B8-AB60F36A8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in a sphere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26B21-D616-895A-5795-596CB170EA33}"/>
              </a:ext>
            </a:extLst>
          </p:cNvPr>
          <p:cNvSpPr/>
          <p:nvPr/>
        </p:nvSpPr>
        <p:spPr>
          <a:xfrm>
            <a:off x="5534070" y="3376996"/>
            <a:ext cx="2010813" cy="19458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8FC43-25D7-D06D-D0B4-721F6AA52E70}"/>
              </a:ext>
            </a:extLst>
          </p:cNvPr>
          <p:cNvSpPr/>
          <p:nvPr/>
        </p:nvSpPr>
        <p:spPr>
          <a:xfrm>
            <a:off x="6002826" y="2026341"/>
            <a:ext cx="2010813" cy="1945808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F980C1-8CE3-71B5-2481-847FE36E1779}"/>
              </a:ext>
            </a:extLst>
          </p:cNvPr>
          <p:cNvCxnSpPr>
            <a:cxnSpLocks/>
          </p:cNvCxnSpPr>
          <p:nvPr/>
        </p:nvCxnSpPr>
        <p:spPr>
          <a:xfrm flipV="1">
            <a:off x="5560072" y="2026341"/>
            <a:ext cx="2453567" cy="32791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be 9">
            <a:extLst>
              <a:ext uri="{FF2B5EF4-FFF2-40B4-BE49-F238E27FC236}">
                <a16:creationId xmlns:a16="http://schemas.microsoft.com/office/drawing/2014/main" id="{34BB89B5-6704-A0E8-CFC0-CF36FEA8AC70}"/>
              </a:ext>
            </a:extLst>
          </p:cNvPr>
          <p:cNvSpPr/>
          <p:nvPr/>
        </p:nvSpPr>
        <p:spPr>
          <a:xfrm>
            <a:off x="1252424" y="2826622"/>
            <a:ext cx="1538445" cy="1607784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B459F44-BD92-093D-59CF-F75F6D8E4C57}"/>
              </a:ext>
            </a:extLst>
          </p:cNvPr>
          <p:cNvSpPr/>
          <p:nvPr/>
        </p:nvSpPr>
        <p:spPr>
          <a:xfrm>
            <a:off x="3677100" y="3276239"/>
            <a:ext cx="996740" cy="55037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6A7E0-7914-46EC-84D7-9D8878507E34}"/>
              </a:ext>
            </a:extLst>
          </p:cNvPr>
          <p:cNvSpPr txBox="1"/>
          <p:nvPr/>
        </p:nvSpPr>
        <p:spPr>
          <a:xfrm>
            <a:off x="4769429" y="5305469"/>
            <a:ext cx="1015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0,0,0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FA274E-093D-45CA-4F17-59C0CD400D5C}"/>
                  </a:ext>
                </a:extLst>
              </p:cNvPr>
              <p:cNvSpPr txBox="1"/>
              <p:nvPr/>
            </p:nvSpPr>
            <p:spPr>
              <a:xfrm>
                <a:off x="7825375" y="1406968"/>
                <a:ext cx="125361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i="1" dirty="0" err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FA274E-093D-45CA-4F17-59C0CD400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5375" y="1406968"/>
                <a:ext cx="125361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66F00A-17FE-19BC-ADCD-38C5377AF01E}"/>
                  </a:ext>
                </a:extLst>
              </p:cNvPr>
              <p:cNvSpPr txBox="1"/>
              <p:nvPr/>
            </p:nvSpPr>
            <p:spPr>
              <a:xfrm>
                <a:off x="6945228" y="2352914"/>
                <a:ext cx="56804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66F00A-17FE-19BC-ADCD-38C5377A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228" y="2352914"/>
                <a:ext cx="56804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A92AA1-0F0C-E0F4-1574-91FC194D8FE7}"/>
                  </a:ext>
                </a:extLst>
              </p:cNvPr>
              <p:cNvSpPr txBox="1"/>
              <p:nvPr/>
            </p:nvSpPr>
            <p:spPr>
              <a:xfrm>
                <a:off x="8543541" y="3432578"/>
                <a:ext cx="333097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A92AA1-0F0C-E0F4-1574-91FC194D8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541" y="3432578"/>
                <a:ext cx="3330976" cy="5395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71B53F-40DC-9A11-79DE-08E2980C6F30}"/>
                  </a:ext>
                </a:extLst>
              </p:cNvPr>
              <p:cNvSpPr txBox="1"/>
              <p:nvPr/>
            </p:nvSpPr>
            <p:spPr>
              <a:xfrm>
                <a:off x="9149055" y="4246976"/>
                <a:ext cx="2330061" cy="855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71B53F-40DC-9A11-79DE-08E2980C6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055" y="4246976"/>
                <a:ext cx="2330061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523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B0549-5E88-6288-6DBD-8DBBE574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9253F-EE6A-BBDA-FF4D-BC070D16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Cube in a sphere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64987-EF2B-B667-EF53-C15FD00DAB24}"/>
                  </a:ext>
                </a:extLst>
              </p:cNvPr>
              <p:cNvSpPr txBox="1"/>
              <p:nvPr/>
            </p:nvSpPr>
            <p:spPr>
              <a:xfrm>
                <a:off x="7278116" y="2295734"/>
                <a:ext cx="333097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=1=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64987-EF2B-B667-EF53-C15FD00DA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116" y="2295734"/>
                <a:ext cx="3330976" cy="5395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69DC2E-55E3-A59A-0285-81813044B013}"/>
                  </a:ext>
                </a:extLst>
              </p:cNvPr>
              <p:cNvSpPr txBox="1"/>
              <p:nvPr/>
            </p:nvSpPr>
            <p:spPr>
              <a:xfrm>
                <a:off x="7740619" y="3429000"/>
                <a:ext cx="2330061" cy="8552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E69DC2E-55E3-A59A-0285-81813044B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619" y="3429000"/>
                <a:ext cx="2330061" cy="855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019FE-136D-F5F0-D852-F3723DF993E2}"/>
                  </a:ext>
                </a:extLst>
              </p:cNvPr>
              <p:cNvSpPr txBox="1"/>
              <p:nvPr/>
            </p:nvSpPr>
            <p:spPr>
              <a:xfrm>
                <a:off x="7585330" y="4560805"/>
                <a:ext cx="976293" cy="783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019FE-136D-F5F0-D852-F3723DF9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330" y="4560805"/>
                <a:ext cx="976293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B6E55791-3C34-B25C-BB9F-7F8EBACCBB49}"/>
              </a:ext>
            </a:extLst>
          </p:cNvPr>
          <p:cNvGrpSpPr/>
          <p:nvPr/>
        </p:nvGrpSpPr>
        <p:grpSpPr>
          <a:xfrm>
            <a:off x="2371790" y="2380734"/>
            <a:ext cx="3219729" cy="2571973"/>
            <a:chOff x="3481204" y="2369479"/>
            <a:chExt cx="3219729" cy="2571973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E1AC53D-E9FD-C182-AD54-F650D17F4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81204" y="2369479"/>
              <a:ext cx="3219729" cy="2571973"/>
            </a:xfrm>
            <a:prstGeom prst="rect">
              <a:avLst/>
            </a:prstGeom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2252B19-529B-A816-EDCE-A4F7B25E0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1399" y="2721532"/>
              <a:ext cx="814004" cy="16962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F342656-0446-C60A-740B-71DF3AA278DB}"/>
                    </a:ext>
                  </a:extLst>
                </p:cNvPr>
                <p:cNvSpPr txBox="1"/>
                <p:nvPr/>
              </p:nvSpPr>
              <p:spPr>
                <a:xfrm>
                  <a:off x="4711399" y="3198167"/>
                  <a:ext cx="57451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F342656-0446-C60A-740B-71DF3AA27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1399" y="3198167"/>
                  <a:ext cx="574516" cy="461665"/>
                </a:xfrm>
                <a:prstGeom prst="rect">
                  <a:avLst/>
                </a:prstGeom>
                <a:blipFill>
                  <a:blip r:embed="rId6"/>
                  <a:stretch>
                    <a:fillRect t="-10526" r="-21277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9072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2D3D-C042-F227-F593-6828804F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Orbits – frame of reference</a:t>
            </a:r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19A69335-6979-6268-65E8-7283DFE81F6D}"/>
              </a:ext>
            </a:extLst>
          </p:cNvPr>
          <p:cNvSpPr/>
          <p:nvPr/>
        </p:nvSpPr>
        <p:spPr>
          <a:xfrm>
            <a:off x="6548725" y="1499154"/>
            <a:ext cx="3949522" cy="4155583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74A7D-0C8F-C53E-2953-75C6463ABAD2}"/>
              </a:ext>
            </a:extLst>
          </p:cNvPr>
          <p:cNvSpPr txBox="1"/>
          <p:nvPr/>
        </p:nvSpPr>
        <p:spPr>
          <a:xfrm>
            <a:off x="8162650" y="3303380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0,0,-5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16555-D539-9165-8DC2-F180982EBB06}"/>
              </a:ext>
            </a:extLst>
          </p:cNvPr>
          <p:cNvSpPr txBox="1"/>
          <p:nvPr/>
        </p:nvSpPr>
        <p:spPr>
          <a:xfrm>
            <a:off x="8223639" y="4989514"/>
            <a:ext cx="72167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0,0,-2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D111A-3840-390A-6274-795575564DEC}"/>
              </a:ext>
            </a:extLst>
          </p:cNvPr>
          <p:cNvSpPr txBox="1"/>
          <p:nvPr/>
        </p:nvSpPr>
        <p:spPr>
          <a:xfrm>
            <a:off x="434378" y="209979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</a:t>
            </a:r>
            <a:r>
              <a:rPr lang="en-US" sz="2400" b="1" dirty="0"/>
              <a:t>a-entity</a:t>
            </a:r>
            <a:r>
              <a:rPr lang="en-US" sz="2400" dirty="0"/>
              <a:t> position="</a:t>
            </a:r>
            <a:r>
              <a:rPr lang="en-US" sz="2400" b="1" dirty="0">
                <a:solidFill>
                  <a:srgbClr val="7030A0"/>
                </a:solidFill>
              </a:rPr>
              <a:t>0 0 -5</a:t>
            </a:r>
            <a:r>
              <a:rPr lang="en-US" sz="2400" dirty="0"/>
              <a:t>" </a:t>
            </a:r>
          </a:p>
          <a:p>
            <a:r>
              <a:rPr lang="en-US" sz="2400" dirty="0"/>
              <a:t>	animation="property: rotation; </a:t>
            </a:r>
          </a:p>
          <a:p>
            <a:r>
              <a:rPr lang="en-US" sz="2400" dirty="0"/>
              <a:t>	to: 0 360 0;    </a:t>
            </a:r>
            <a:r>
              <a:rPr lang="en-US" sz="2400" dirty="0">
                <a:solidFill>
                  <a:srgbClr val="FF0000"/>
                </a:solidFill>
              </a:rPr>
              <a:t>rotates around the y-axis</a:t>
            </a:r>
            <a:endParaRPr lang="en-US" sz="2400" dirty="0"/>
          </a:p>
          <a:p>
            <a:r>
              <a:rPr lang="en-US" sz="2400" dirty="0"/>
              <a:t>	loop: true; dur:10000 "&gt;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chemeClr val="accent1"/>
                </a:solidFill>
              </a:rPr>
              <a:t>&lt;a-sphere         position="</a:t>
            </a:r>
            <a:r>
              <a:rPr lang="en-US" sz="2400" dirty="0">
                <a:solidFill>
                  <a:srgbClr val="FF0000"/>
                </a:solidFill>
              </a:rPr>
              <a:t>0 0 -2</a:t>
            </a:r>
            <a:r>
              <a:rPr lang="en-US" sz="2400" dirty="0">
                <a:solidFill>
                  <a:schemeClr val="accent1"/>
                </a:solidFill>
              </a:rPr>
              <a:t>" 				 </a:t>
            </a:r>
            <a:r>
              <a:rPr lang="en-US" sz="2400" dirty="0" err="1">
                <a:solidFill>
                  <a:schemeClr val="accent1"/>
                </a:solidFill>
              </a:rPr>
              <a:t>src</a:t>
            </a:r>
            <a:r>
              <a:rPr lang="en-US" sz="2400" dirty="0">
                <a:solidFill>
                  <a:schemeClr val="accent1"/>
                </a:solidFill>
              </a:rPr>
              <a:t>="#mars" 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			rotation="0 0 0" &gt;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	&lt;/a-sphere&gt;</a:t>
            </a:r>
          </a:p>
          <a:p>
            <a:r>
              <a:rPr lang="en-US" sz="2400" dirty="0"/>
              <a:t>&lt;/</a:t>
            </a:r>
            <a:r>
              <a:rPr lang="en-US" sz="2400" b="1" dirty="0"/>
              <a:t>a-entity</a:t>
            </a:r>
            <a:r>
              <a:rPr lang="en-US" sz="2400" dirty="0"/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5AD14-281C-5DB4-BB9D-24009B2E61CC}"/>
              </a:ext>
            </a:extLst>
          </p:cNvPr>
          <p:cNvSpPr txBox="1"/>
          <p:nvPr/>
        </p:nvSpPr>
        <p:spPr>
          <a:xfrm>
            <a:off x="7610669" y="1868486"/>
            <a:ext cx="164339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0,0,-2 </a:t>
            </a:r>
            <a:r>
              <a:rPr lang="en-US" dirty="0">
                <a:sym typeface="Wingdings" panose="05000000000000000000" pitchFamily="2" charset="2"/>
              </a:rPr>
              <a:t> 0,0,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-7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524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5781-8429-1E12-D9BF-3F8F2FA6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– frame </a:t>
            </a:r>
            <a:r>
              <a:rPr lang="en-US"/>
              <a:t>of reference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22004-9513-D2FA-B584-867B5C632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703" y="2529153"/>
            <a:ext cx="9322593" cy="233476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D0A216-2B10-9355-C19A-81E6F9F79E2C}"/>
              </a:ext>
            </a:extLst>
          </p:cNvPr>
          <p:cNvCxnSpPr/>
          <p:nvPr/>
        </p:nvCxnSpPr>
        <p:spPr>
          <a:xfrm flipH="1">
            <a:off x="8637431" y="2023101"/>
            <a:ext cx="746975" cy="8156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4B5C6-6B0E-5943-A6D3-BEE76012C665}"/>
              </a:ext>
            </a:extLst>
          </p:cNvPr>
          <p:cNvCxnSpPr>
            <a:cxnSpLocks/>
          </p:cNvCxnSpPr>
          <p:nvPr/>
        </p:nvCxnSpPr>
        <p:spPr>
          <a:xfrm flipH="1" flipV="1">
            <a:off x="8967988" y="4019238"/>
            <a:ext cx="648237" cy="75556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866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F183B-FE37-23B4-6E83-428DC020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38C2-21C7-D50C-F5C1-1EA52AEC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animations at the same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14AA0-ABE2-4C92-9051-EAFB1B821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10" y="3324415"/>
            <a:ext cx="8329565" cy="11062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B7FD7C-218F-2415-9938-3E613226838A}"/>
              </a:ext>
            </a:extLst>
          </p:cNvPr>
          <p:cNvSpPr txBox="1"/>
          <p:nvPr/>
        </p:nvSpPr>
        <p:spPr>
          <a:xfrm>
            <a:off x="6946005" y="3139749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49327-E26F-D3D1-1526-F117EEA2E840}"/>
              </a:ext>
            </a:extLst>
          </p:cNvPr>
          <p:cNvSpPr txBox="1"/>
          <p:nvPr/>
        </p:nvSpPr>
        <p:spPr>
          <a:xfrm>
            <a:off x="7347397" y="3429000"/>
            <a:ext cx="101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translate</a:t>
            </a:r>
          </a:p>
        </p:txBody>
      </p:sp>
    </p:spTree>
    <p:extLst>
      <p:ext uri="{BB962C8B-B14F-4D97-AF65-F5344CB8AC3E}">
        <p14:creationId xmlns:p14="http://schemas.microsoft.com/office/powerpoint/2010/main" val="1704326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7752-E8BF-C7EB-C6AF-225EEC3F5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B57F-8D99-5527-F23B-F92D6F85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/>
              <a:t>&lt;</a:t>
            </a:r>
            <a:r>
              <a:rPr lang="en-US" sz="1600" dirty="0"/>
              <a:t>a-sphere </a:t>
            </a:r>
            <a:r>
              <a:rPr lang="en-US" sz="1600" dirty="0" err="1"/>
              <a:t>src</a:t>
            </a:r>
            <a:r>
              <a:rPr lang="en-US" sz="1600" dirty="0"/>
              <a:t>="#mars" radius="0.5" position="0  0.5  0" segments-height="53"</a:t>
            </a:r>
          </a:p>
          <a:p>
            <a:pPr marL="0" indent="0">
              <a:buNone/>
            </a:pPr>
            <a:r>
              <a:rPr lang="en-US" sz="1600" dirty="0"/>
              <a:t>    animation='property: position; dur: 5000; from: </a:t>
            </a:r>
            <a:r>
              <a:rPr lang="en-US" sz="1600" dirty="0">
                <a:solidFill>
                  <a:srgbClr val="FF0000"/>
                </a:solidFill>
              </a:rPr>
              <a:t>-2  0.5  0</a:t>
            </a:r>
            <a:r>
              <a:rPr lang="en-US" sz="1600" dirty="0"/>
              <a:t>; to: </a:t>
            </a:r>
            <a:r>
              <a:rPr lang="en-US" sz="1600" dirty="0">
                <a:solidFill>
                  <a:srgbClr val="FF0000"/>
                </a:solidFill>
              </a:rPr>
              <a:t>2  0.5  0</a:t>
            </a:r>
            <a:r>
              <a:rPr lang="en-US" sz="1600" dirty="0"/>
              <a:t>;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animation__2='property: rotation; dur: 1000; from: </a:t>
            </a:r>
            <a:r>
              <a:rPr lang="en-US" sz="1600" b="1" dirty="0"/>
              <a:t>0 0 0</a:t>
            </a:r>
            <a:r>
              <a:rPr lang="en-US" sz="1600" dirty="0"/>
              <a:t>;    to: </a:t>
            </a:r>
            <a:r>
              <a:rPr lang="en-US" sz="1600" b="1" dirty="0"/>
              <a:t>0 360 0</a:t>
            </a:r>
            <a:r>
              <a:rPr lang="en-US" sz="1600" dirty="0"/>
              <a:t>;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normal</a:t>
            </a:r>
            <a:r>
              <a:rPr lang="en-US" sz="1600" dirty="0"/>
              <a:t>;    easing: linear; loop: true;'</a:t>
            </a:r>
          </a:p>
          <a:p>
            <a:pPr marL="0" indent="0">
              <a:buNone/>
            </a:pPr>
            <a:r>
              <a:rPr lang="en-US" sz="1600" dirty="0"/>
              <a:t>    animation__3='property:  scale; dur: 1000; from: </a:t>
            </a:r>
            <a:r>
              <a:rPr lang="en-US" sz="1600" b="1" dirty="0"/>
              <a:t>1 1 1</a:t>
            </a:r>
            <a:r>
              <a:rPr lang="en-US" sz="1600" dirty="0"/>
              <a:t>;    to: </a:t>
            </a:r>
            <a:r>
              <a:rPr lang="en-US" sz="1600" b="1" dirty="0"/>
              <a:t>2 2 2</a:t>
            </a:r>
            <a:r>
              <a:rPr lang="en-US" sz="1600" dirty="0"/>
              <a:t>;   </a:t>
            </a:r>
            <a:r>
              <a:rPr lang="en-US" sz="1600" dirty="0" err="1"/>
              <a:t>dir</a:t>
            </a:r>
            <a:r>
              <a:rPr lang="en-US" sz="1600" dirty="0"/>
              <a:t>: </a:t>
            </a:r>
            <a:r>
              <a:rPr lang="en-US" sz="1600" dirty="0">
                <a:solidFill>
                  <a:srgbClr val="0070C0"/>
                </a:solidFill>
              </a:rPr>
              <a:t>alternate</a:t>
            </a:r>
            <a:r>
              <a:rPr lang="en-US" sz="1600" dirty="0"/>
              <a:t>; easing: linear; loop: true;'&gt;</a:t>
            </a:r>
          </a:p>
          <a:p>
            <a:pPr marL="0" indent="0">
              <a:buNone/>
            </a:pPr>
            <a:r>
              <a:rPr lang="en-US" sz="1600" dirty="0"/>
              <a:t>&lt;/a-sphere&gt;</a:t>
            </a:r>
          </a:p>
        </p:txBody>
      </p:sp>
    </p:spTree>
    <p:extLst>
      <p:ext uri="{BB962C8B-B14F-4D97-AF65-F5344CB8AC3E}">
        <p14:creationId xmlns:p14="http://schemas.microsoft.com/office/powerpoint/2010/main" val="4092314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2559</TotalTime>
  <Words>808</Words>
  <Application>Microsoft Office PowerPoint</Application>
  <PresentationFormat>Widescreen</PresentationFormat>
  <Paragraphs>141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Meiryo</vt:lpstr>
      <vt:lpstr>Aptos</vt:lpstr>
      <vt:lpstr>Arial</vt:lpstr>
      <vt:lpstr>Calibri</vt:lpstr>
      <vt:lpstr>Calibri Light</vt:lpstr>
      <vt:lpstr>Cambria Math</vt:lpstr>
      <vt:lpstr>Wingdings</vt:lpstr>
      <vt:lpstr>office theme</vt:lpstr>
      <vt:lpstr>AR/VR Workshop Moving geometric objects</vt:lpstr>
      <vt:lpstr>Outline</vt:lpstr>
      <vt:lpstr>A-box - https://aframe.io/docs/1.7.0/components/animation.html</vt:lpstr>
      <vt:lpstr>A-box</vt:lpstr>
      <vt:lpstr>A-box static rotation – a-Platonic-solids</vt:lpstr>
      <vt:lpstr>Translation</vt:lpstr>
      <vt:lpstr>Platonic solids </vt:lpstr>
      <vt:lpstr>Other views</vt:lpstr>
      <vt:lpstr>Basic animation</vt:lpstr>
      <vt:lpstr>A-box dynamic rotation</vt:lpstr>
      <vt:lpstr>Basic animation – rotation in place</vt:lpstr>
      <vt:lpstr>How to create orbits?</vt:lpstr>
      <vt:lpstr>Cube in a sphere</vt:lpstr>
      <vt:lpstr>Cube in a sphere</vt:lpstr>
      <vt:lpstr>Orbits – frame of reference</vt:lpstr>
      <vt:lpstr>Several animations – frame of reference</vt:lpstr>
      <vt:lpstr>Several animations at the same time</vt:lpstr>
      <vt:lpstr>Multi animations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271</cp:revision>
  <cp:lastPrinted>2024-05-23T21:19:58Z</cp:lastPrinted>
  <dcterms:created xsi:type="dcterms:W3CDTF">2023-10-08T23:58:23Z</dcterms:created>
  <dcterms:modified xsi:type="dcterms:W3CDTF">2025-10-30T21:21:44Z</dcterms:modified>
</cp:coreProperties>
</file>